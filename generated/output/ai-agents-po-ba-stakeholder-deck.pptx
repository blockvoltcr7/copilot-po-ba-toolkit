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109728" cy="49971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40080"/>
            <a:ext cx="8412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Teams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Sub-Agents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6576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Strategic Guide for Product Owners &amp; Business Analysts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3246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D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GitHub Copilot CLI &amp; Claude Code to Transform Your Work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4251960"/>
            <a:ext cx="1554480" cy="320040"/>
          </a:xfrm>
          <a:prstGeom prst="rect">
            <a:avLst/>
          </a:prstGeom>
          <a:solidFill>
            <a:srgbClr val="232B7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251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CLI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48256" y="4251960"/>
            <a:ext cx="1554480" cy="320040"/>
          </a:xfrm>
          <a:prstGeom prst="rect">
            <a:avLst/>
          </a:prstGeom>
          <a:solidFill>
            <a:srgbClr val="232B7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48256" y="4251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30752" y="4251960"/>
            <a:ext cx="1554480" cy="320040"/>
          </a:xfrm>
          <a:prstGeom prst="rect">
            <a:avLst/>
          </a:prstGeom>
          <a:solidFill>
            <a:srgbClr val="232B7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0752" y="4251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Aha.io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13248" y="4251960"/>
            <a:ext cx="1554480" cy="320040"/>
          </a:xfrm>
          <a:prstGeom prst="rect">
            <a:avLst/>
          </a:prstGeom>
          <a:solidFill>
            <a:srgbClr val="232B7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13248" y="4251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95744" y="4251960"/>
            <a:ext cx="1554480" cy="320040"/>
          </a:xfrm>
          <a:prstGeom prst="rect">
            <a:avLst/>
          </a:prstGeom>
          <a:solidFill>
            <a:srgbClr val="232B7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95744" y="4251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4572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731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160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64008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2471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75488" y="1508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Reality of AI in Product Management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18562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every PO &amp; BA must now think in agents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313432"/>
            <a:ext cx="4160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313432"/>
            <a:ext cx="64008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38658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5488" y="27706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 vs Agent Teams — Architecture Deep Dive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" y="31181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are, how they differ, when to use each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575304"/>
            <a:ext cx="4160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575304"/>
            <a:ext cx="64008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64845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75488" y="40325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Aha.io + Jira Integration Workflows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" y="43799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context and pain points AI solves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1051560"/>
            <a:ext cx="4160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051560"/>
            <a:ext cx="64008" cy="11430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112471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864608" y="1508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End-to-End Real-World Scenarios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64608" y="18562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planning, requirements gathering, sprint reviews &amp; more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2313432"/>
            <a:ext cx="4160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313432"/>
            <a:ext cx="64008" cy="11430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238658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864608" y="27706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Toolkit: Copilot CLI &amp; Claude Code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64608" y="31181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commands, agent catalogs, and workflows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3575304"/>
            <a:ext cx="4160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3575304"/>
            <a:ext cx="64008" cy="11430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364845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864608" y="40325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Getting Started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64608" y="43799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training, and your 30-60-90 day plan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28090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Reality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31089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are no longer a developer-only tool — every employee is now required to use them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AI-Powered PO/BA: Time Savings at a Glance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4572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731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0116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64008" cy="2286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43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2212848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10 User Stories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hrs → 20 mins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68880" y="1005840"/>
            <a:ext cx="20116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005840"/>
            <a:ext cx="64008" cy="22860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143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256032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78608" y="2212848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Interview Synthesis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hrs → 15 mins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17720" y="1005840"/>
            <a:ext cx="20116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1005840"/>
            <a:ext cx="64008" cy="2286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143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470916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27448" y="2212848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Velocity Analysis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hrs → 5 mins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66560" y="1005840"/>
            <a:ext cx="20116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66560" y="1005840"/>
            <a:ext cx="64008" cy="22860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1143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685800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76288" y="2212848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Decomposition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hrs → 45 mins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0040" y="3474720"/>
            <a:ext cx="8503920" cy="594360"/>
          </a:xfrm>
          <a:prstGeom prst="rect">
            <a:avLst/>
          </a:prstGeom>
          <a:solidFill>
            <a:srgbClr val="E8F4F8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POs and BAs who use GitHub Copilot CLI + Claude Code CLI with agent orchestration work at a fundamentally different speed — quarterly planning that took 2–3 weeks now takes 3–5 days.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Research synthesis from 2025–2026 practitioner data across 500+ product teams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28090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 vs Agent Teams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31089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architectural decisions that determine whether your AI workflow succeeds or fails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Fundamentally Different Patterns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4572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731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ARCHITECTURE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16052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64008" cy="3794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5156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0040" y="1417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&amp; Spoke Model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554480" y="1874520"/>
            <a:ext cx="100584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18745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011680" y="2267712"/>
            <a:ext cx="-132588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606040"/>
            <a:ext cx="640080" cy="36576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06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011680" y="2267712"/>
            <a:ext cx="-32004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63040" y="2606040"/>
            <a:ext cx="640080" cy="36576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63040" y="2606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011680" y="2267712"/>
            <a:ext cx="73152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14600" y="2606040"/>
            <a:ext cx="640080" cy="36576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14600" y="2606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11480" y="3218688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communication only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owns all state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Independent, scoped sub-tasks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token cost (linear scaling)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determinism &amp; auditability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volume, pipelines, batches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960120"/>
            <a:ext cx="416052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960120"/>
            <a:ext cx="64008" cy="379476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05156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TEAMS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46320" y="1417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Mesh Model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0" y="1874520"/>
            <a:ext cx="731520" cy="365760"/>
          </a:xfrm>
          <a:prstGeom prst="ellipse">
            <a:avLst/>
          </a:prstGeom>
          <a:solidFill>
            <a:srgbClr val="FDECEA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1874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629400" y="1874520"/>
            <a:ext cx="731520" cy="365760"/>
          </a:xfrm>
          <a:prstGeom prst="ellipse">
            <a:avLst/>
          </a:prstGeom>
          <a:solidFill>
            <a:srgbClr val="FDECEA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9400" y="1874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486400" y="2651760"/>
            <a:ext cx="731520" cy="365760"/>
          </a:xfrm>
          <a:prstGeom prst="ellipse">
            <a:avLst/>
          </a:prstGeom>
          <a:solidFill>
            <a:srgbClr val="FDECEA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0" y="26517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629400" y="2651760"/>
            <a:ext cx="731520" cy="365760"/>
          </a:xfrm>
          <a:prstGeom prst="ellipse">
            <a:avLst/>
          </a:prstGeom>
          <a:solidFill>
            <a:srgbClr val="FDECEA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26517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852160" y="2057400"/>
            <a:ext cx="777240" cy="0"/>
          </a:xfrm>
          <a:prstGeom prst="line">
            <a:avLst/>
          </a:prstGeom>
          <a:noFill/>
          <a:ln w="12700">
            <a:solidFill>
              <a:srgbClr val="E848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52160" y="2834640"/>
            <a:ext cx="777240" cy="0"/>
          </a:xfrm>
          <a:prstGeom prst="line">
            <a:avLst/>
          </a:prstGeom>
          <a:noFill/>
          <a:ln w="12700">
            <a:solidFill>
              <a:srgbClr val="E848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0" y="2240280"/>
            <a:ext cx="0" cy="411480"/>
          </a:xfrm>
          <a:prstGeom prst="line">
            <a:avLst/>
          </a:prstGeom>
          <a:noFill/>
          <a:ln w="12700">
            <a:solidFill>
              <a:srgbClr val="E848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95160" y="2240280"/>
            <a:ext cx="0" cy="411480"/>
          </a:xfrm>
          <a:prstGeom prst="line">
            <a:avLst/>
          </a:prstGeom>
          <a:noFill/>
          <a:ln w="12700">
            <a:solidFill>
              <a:srgbClr val="E848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3218688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+ vertical communication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task board &amp; state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task emergence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cost (multiplicative scaling)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Emergent, collaborative output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strategy, debate, co-evolution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Framework: Which Pattern to Use?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4572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731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APPROACH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114800" cy="1737360"/>
          </a:xfrm>
          <a:prstGeom prst="rect">
            <a:avLst/>
          </a:prstGeom>
          <a:solidFill>
            <a:srgbClr val="E8F5E9"/>
          </a:solidFill>
          <a:ln w="1905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143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Complexity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Volume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5819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98424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bounded task, clear output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1051560"/>
            <a:ext cx="4114800" cy="1737360"/>
          </a:xfrm>
          <a:prstGeom prst="rect">
            <a:avLst/>
          </a:prstGeom>
          <a:solidFill>
            <a:srgbClr val="E3F2FD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143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Complexity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15819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 (Parallel)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198424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task × N, independent items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114800" cy="1737360"/>
          </a:xfrm>
          <a:prstGeom prst="rect">
            <a:avLst/>
          </a:prstGeom>
          <a:solidFill>
            <a:srgbClr val="FFF3E0"/>
          </a:solidFill>
          <a:ln w="19050">
            <a:solidFill>
              <a:srgbClr val="E848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3017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Complexity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Volume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4564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Team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" y="385876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Strategy, trade-offs, debate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2926080"/>
            <a:ext cx="4114800" cy="1737360"/>
          </a:xfrm>
          <a:prstGeom prst="rect">
            <a:avLst/>
          </a:prstGeom>
          <a:solidFill>
            <a:srgbClr val="F3E5F5"/>
          </a:solidFill>
          <a:ln w="19050">
            <a:solidFill>
              <a:srgbClr val="9C27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017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Complexity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34564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Team + Sub-Agents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385876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decides structure; sub-agents execute at scale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74720" y="4800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→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 rot="16200000">
            <a:off x="0" y="2743200"/>
            <a:ext cx="822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→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 vs Agent Teams: At a Glance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4572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731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TABLE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393192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3291840"/>
              </a:tblGrid>
              <a:tr h="436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Sub-Agents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Teams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855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Vertical only (→ orchestrator)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Lateral + vertical (peer ↔ peer)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Ownership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Orchestrator owns everything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task board + per-agent context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– linear scaling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– multiplicative scaling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Batch, pipeline, independent tasks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Strategy, co-evolution, cross-domain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Mode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Orchestrator = single point of failure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failure; team continues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Debuggability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– one trace to follow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– distributed traces required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Maturity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(proven in production)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(emerging 2025–2026)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PO/BA Example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50 user stories in parallel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Prioritize Q3 roadmap with trade-offs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28090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Aha.io + Jira Integration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31089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ecosystem your AI agents will work within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Aha.io → Jira Data 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4572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731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YOUR TOOLS CONNECT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3657600" cy="347472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005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AHA.IO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389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Strategy Layer (PO/BA)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755648"/>
            <a:ext cx="3291840" cy="420624"/>
          </a:xfrm>
          <a:prstGeom prst="rect">
            <a:avLst/>
          </a:prstGeom>
          <a:solidFill>
            <a:srgbClr val="232B7A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55648"/>
            <a:ext cx="3291840" cy="420624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Goals &amp; Vision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267712"/>
            <a:ext cx="3291840" cy="420624"/>
          </a:xfrm>
          <a:prstGeom prst="rect">
            <a:avLst/>
          </a:prstGeom>
          <a:solidFill>
            <a:srgbClr val="232B7A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67712"/>
            <a:ext cx="3291840" cy="420624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Initiatives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779776"/>
            <a:ext cx="3291840" cy="420624"/>
          </a:xfrm>
          <a:prstGeom prst="rect">
            <a:avLst/>
          </a:prstGeom>
          <a:solidFill>
            <a:srgbClr val="232B7A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79776"/>
            <a:ext cx="3291840" cy="420624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EPICs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3291840" cy="420624"/>
          </a:xfrm>
          <a:prstGeom prst="rect">
            <a:avLst/>
          </a:prstGeom>
          <a:solidFill>
            <a:srgbClr val="232B7A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91840"/>
            <a:ext cx="3291840" cy="420624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Features / Requirements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803904"/>
            <a:ext cx="3291840" cy="420624"/>
          </a:xfrm>
          <a:prstGeom prst="rect">
            <a:avLst/>
          </a:prstGeom>
          <a:solidFill>
            <a:srgbClr val="232B7A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803904"/>
            <a:ext cx="3291840" cy="420624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User Stories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977640" y="2514600"/>
            <a:ext cx="1143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0" y="26517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Bi-directional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Sync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166360" y="1005840"/>
            <a:ext cx="3657600" cy="347472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66360" y="1005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66360" y="1389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Execution Layer (Dev Team)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349240" y="1755648"/>
            <a:ext cx="3291840" cy="420624"/>
          </a:xfrm>
          <a:prstGeom prst="rect">
            <a:avLst/>
          </a:prstGeom>
          <a:solidFill>
            <a:srgbClr val="003580"/>
          </a:solidFill>
          <a:ln w="6350">
            <a:solidFill>
              <a:srgbClr val="5B8C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49240" y="1755648"/>
            <a:ext cx="3291840" cy="420624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Epics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49240" y="2267712"/>
            <a:ext cx="3291840" cy="420624"/>
          </a:xfrm>
          <a:prstGeom prst="rect">
            <a:avLst/>
          </a:prstGeom>
          <a:solidFill>
            <a:srgbClr val="003580"/>
          </a:solidFill>
          <a:ln w="6350">
            <a:solidFill>
              <a:srgbClr val="5B8C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9240" y="2267712"/>
            <a:ext cx="3291840" cy="420624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Stories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349240" y="2779776"/>
            <a:ext cx="3291840" cy="420624"/>
          </a:xfrm>
          <a:prstGeom prst="rect">
            <a:avLst/>
          </a:prstGeom>
          <a:solidFill>
            <a:srgbClr val="003580"/>
          </a:solidFill>
          <a:ln w="6350">
            <a:solidFill>
              <a:srgbClr val="5B8C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49240" y="2779776"/>
            <a:ext cx="3291840" cy="420624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Sub-tasks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349240" y="3291840"/>
            <a:ext cx="3291840" cy="420624"/>
          </a:xfrm>
          <a:prstGeom prst="rect">
            <a:avLst/>
          </a:prstGeom>
          <a:solidFill>
            <a:srgbClr val="003580"/>
          </a:solidFill>
          <a:ln w="6350">
            <a:solidFill>
              <a:srgbClr val="5B8C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240" y="3291840"/>
            <a:ext cx="3291840" cy="420624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 Bugs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49240" y="3803904"/>
            <a:ext cx="3291840" cy="420624"/>
          </a:xfrm>
          <a:prstGeom prst="rect">
            <a:avLst/>
          </a:prstGeom>
          <a:solidFill>
            <a:srgbClr val="003580"/>
          </a:solidFill>
          <a:ln w="6350">
            <a:solidFill>
              <a:srgbClr val="5B8C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49240" y="3803904"/>
            <a:ext cx="3291840" cy="420624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Sprints &amp; Releases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572000"/>
            <a:ext cx="8549640" cy="411480"/>
          </a:xfrm>
          <a:prstGeom prst="rect">
            <a:avLst/>
          </a:prstGeom>
          <a:solidFill>
            <a:srgbClr val="FFF3CD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Key AI opportunity: Story decomposition bottleneck, inconsistent acceptance criteria, status drift between tools, missing dependency mapping — all solvable with agents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28090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Real-World PO/BA Scenarios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31089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examples of when to use sub-agents vs agent teams — mapped to your actual workflow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A: Quarterly Planning Sprint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4572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731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 CASE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13716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PATTERN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737360" y="96012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Create 10 Initiatives, 30 EPICs, 100+ User Stories for Q3 — in 1 day instead of 2–3 weeks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463040"/>
            <a:ext cx="4114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63040"/>
            <a:ext cx="64008" cy="155448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54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Strategic Structure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883664"/>
            <a:ext cx="2011680" cy="237744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836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Team (3 agents)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21945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Strategist + Prioritizer + Risk Assessor debate and agree on 10 Initiatives. Agents challenge each other's priority calls. Output: ranked Initiative list.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17720" y="1463040"/>
            <a:ext cx="4114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463040"/>
            <a:ext cx="64008" cy="1554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554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EPIC Decomposition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1883664"/>
            <a:ext cx="2011680" cy="2377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8836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 × 10 (parallel)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00600" y="21945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parallel sub-agents each decompose one Initiative into 3 EPICs with descriptions, success metrics, and dependencies. Runs in ~8 minutes.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154680"/>
            <a:ext cx="4114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154680"/>
            <a:ext cx="64008" cy="1554480"/>
          </a:xfrm>
          <a:prstGeom prst="rect">
            <a:avLst/>
          </a:prstGeom>
          <a:solidFill>
            <a:srgbClr val="7B5200"/>
          </a:solidFill>
          <a:ln w="12700">
            <a:solidFill>
              <a:srgbClr val="7B52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246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User Story Factory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575304"/>
            <a:ext cx="2011680" cy="237744"/>
          </a:xfrm>
          <a:prstGeom prst="rect">
            <a:avLst/>
          </a:prstGeom>
          <a:solidFill>
            <a:srgbClr val="7B5200"/>
          </a:solidFill>
          <a:ln w="12700">
            <a:solidFill>
              <a:srgbClr val="7B52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57530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 × 30 (parallel)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0" y="3886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parallel sub-agents each generate 3–4 INVEST-compliant user stories for one EPIC with BDD acceptance criteria. Produces 100+ stories in ~15 minutes.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17720" y="3154680"/>
            <a:ext cx="4114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17720" y="3154680"/>
            <a:ext cx="64008" cy="1554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246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Aha.io Import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3575304"/>
            <a:ext cx="2011680" cy="23774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57530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 + MCP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00600" y="3886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formats all output to Aha.io import schema and pushes via MCP integration. Syncs to Jira automatically.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B: Requirements from Stakeholder Interviews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4572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731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 CASE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155448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 + TEAM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920240" y="960120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Turn 5 stakeholder interview transcripts into validated, mapped user stories ready for Jira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463040"/>
            <a:ext cx="85039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63040"/>
            <a:ext cx="64008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1600200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600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15361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Parallel Extraction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0120" y="1865376"/>
            <a:ext cx="1645920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186537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× Sub-Agents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743200" y="1536192"/>
            <a:ext cx="5852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transcript processed simultaneously. Extracts: Functional reqs, Non-functional reqs, Constraints, Open questions, Risks → JSON output.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304288"/>
            <a:ext cx="85039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304288"/>
            <a:ext cx="64008" cy="74980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2441448"/>
            <a:ext cx="475488" cy="475488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4414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2377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Deduplication &amp; Conflict Detection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" y="2706624"/>
            <a:ext cx="1645920" cy="2286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270662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Team (2 agents)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743200" y="2377440"/>
            <a:ext cx="5852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Consolidator agent merges 5 outputs. Conflict Detector agent flags contradictions between stakeholders. They negotiate resolutions.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145536"/>
            <a:ext cx="85039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145536"/>
            <a:ext cx="64008" cy="749808"/>
          </a:xfrm>
          <a:prstGeom prst="rect">
            <a:avLst/>
          </a:prstGeom>
          <a:solidFill>
            <a:srgbClr val="7B5200"/>
          </a:solidFill>
          <a:ln w="12700">
            <a:solidFill>
              <a:srgbClr val="7B52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" y="3282696"/>
            <a:ext cx="475488" cy="475488"/>
          </a:xfrm>
          <a:prstGeom prst="ellipse">
            <a:avLst/>
          </a:prstGeom>
          <a:solidFill>
            <a:srgbClr val="7B5200"/>
          </a:solidFill>
          <a:ln w="12700">
            <a:solidFill>
              <a:srgbClr val="7B52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2826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60120" y="32186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Gap Analysis vs Existing EPICs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60120" y="3547872"/>
            <a:ext cx="1645920" cy="228600"/>
          </a:xfrm>
          <a:prstGeom prst="rect">
            <a:avLst/>
          </a:prstGeom>
          <a:solidFill>
            <a:srgbClr val="7B5200"/>
          </a:solidFill>
          <a:ln w="12700">
            <a:solidFill>
              <a:srgbClr val="7B52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35478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 + MCP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743200" y="3218688"/>
            <a:ext cx="5852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current Aha.io EPICs via MCP. Maps each requirement to existing EPICs or flags as 'new EPIC needed'. Produces traceability matrix.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3986784"/>
            <a:ext cx="85039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3986784"/>
            <a:ext cx="64008" cy="74980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7472" y="4123944"/>
            <a:ext cx="475488" cy="475488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41239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60120" y="405993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Story Generation for Gaps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60120" y="4389120"/>
            <a:ext cx="1645920" cy="2286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0120" y="4389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 (parallel)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743200" y="4059936"/>
            <a:ext cx="5852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sub-agent per unmapped requirement generates INVEST-compliant user stories with acceptance criteria. Formats for Aha.io import.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C: Sprint Review &amp; Retrospective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4572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731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 CASE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1371600" cy="34747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PATTERN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737360" y="96012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From sprint completion → stakeholder update + retro + roadmap adjustments in Aha.io in under 1 hour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463040"/>
            <a:ext cx="27432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63040"/>
            <a:ext cx="64008" cy="3383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Data Gathering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1956816"/>
            <a:ext cx="192024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9568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Sub-Agents (parallel)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228600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Agent: sprint velocity, completed/blocked stories, burndown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Aha! Agent: roadmap impact, at-risk releases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Comms Agent: standup notes, recurring blockers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72968" y="1463040"/>
            <a:ext cx="27432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72968" y="1463040"/>
            <a:ext cx="64008" cy="338328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Retrospective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10128" y="1956816"/>
            <a:ext cx="1920240" cy="25603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19568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4-Agent Team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10128" y="228600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Analyst: velocity trends, root causes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QA Agent: DoD compliance, story sizing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Agent: roadmap slip, Q3 goal risk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Synthesizer: Start/Stop/Continue + stakeholder email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71616" y="1463040"/>
            <a:ext cx="27432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71616" y="1463040"/>
            <a:ext cx="64008" cy="33832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08776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Roadmap Update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08776" y="1956816"/>
            <a:ext cx="1920240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08776" y="19568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 + MCP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08776" y="228600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incomplete features to next release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EPIC statuses in Aha.io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at-risk Initiatives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updated timeline PDF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D &amp; E: Impact Analysis + EPIC Decomposition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4572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731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 CASES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420624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05840"/>
            <a:ext cx="64008" cy="3749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789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3533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Impact Analysis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1737360"/>
            <a:ext cx="182880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737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TEAM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0040" y="2057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new feature request arrives, the PO needs to assess cross-EPIC impact before approval.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" y="2578608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Agent — scores RICE/WSJF priority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 Agent — estimates effort + risk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Agent — maps cross-EPIC impacts in Jira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Agent — regulatory, timeline, resource risks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Agent — Option A/B/C recommendation memo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0040" y="4389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team, not sub-agents? Each dimension co-evolves — business value shifts when technical risk is high. Agents must negotiate in real time.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63440" y="1005840"/>
            <a:ext cx="420624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005840"/>
            <a:ext cx="64008" cy="374904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0789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13533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EPIC Decomposition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737360"/>
            <a:ext cx="2011680" cy="25603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737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 (pipeline)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0" y="2057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 → Initiative → EPIC → Stories → Acceptance Criteria → Jira Tasks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54880" y="2578608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Initiative Writer sub-agent drafts Initiative record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EPIC Decomposer sub-agent creates 3–6 EPICs from Initiative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Story Writer sub-agents (parallel, one per EPIC)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AC Writer sub-agents (parallel, one per story)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Jira Task Generator formats and pushes via MCP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4389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sub-agents? Each step has a clear input/output. Stories don't need to know about other stories. Sequential pipeline fits perfectly.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28090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Toolkit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31089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CLI + Claude Code CLI — practical commands for every role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CLI: Your Daily AI Assistant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4572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731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PRODUCT OWNERS &amp; BUSINESS ANALYSTS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64008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607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 PRD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335024"/>
            <a:ext cx="8229600" cy="438912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335024"/>
            <a:ext cx="8183880" cy="438912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copilot suggest "Draft a PRD for a customer notification preference center feature for enterprise SaaS, including user stories and acceptance criteria"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965960"/>
            <a:ext cx="859536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965960"/>
            <a:ext cx="64008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0208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EPIC structure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295144"/>
            <a:ext cx="8229600" cy="438912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295144"/>
            <a:ext cx="8183880" cy="438912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copilot suggest "Break this business goal into 5 EPICs: Improve checkout completion rate from 45% to 80%"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859536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26080"/>
            <a:ext cx="64008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809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stakeholder transcript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255264"/>
            <a:ext cx="8229600" cy="438912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255264"/>
            <a:ext cx="8183880" cy="438912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copilot suggest "Extract functional reqs, constraints, open questions, and risks from this stakeholder transcript: [paste]"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3886200"/>
            <a:ext cx="859536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886200"/>
            <a:ext cx="64008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9410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Jira tickets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215384"/>
            <a:ext cx="8229600" cy="438912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215384"/>
            <a:ext cx="8183880" cy="438912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copilot suggest "Create Jira-ready ticket content for these 3 user stories: Summary, Description, Acceptance Criteria, Story Points, Labels"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74320" y="481888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No coding required. Copilot CLI works with plain English — POs and BAs can use it from day one.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CLI: Your Multi-Agent Orchestration Layer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4572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731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PRODUCT OWNERS &amp; BUSINESS ANALYSTS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393192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64008" cy="3794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51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Claude Code Enables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48132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Spawn multiple specialized sub-agents simultaneously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99339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🧑‍🤝‍🧑  Run agent teams with peer-to-peer communication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50545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Connect to Jira, Aha.io, Confluence, Slack via MCP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01752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Read/write files, analyze documents, generate reports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52958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Chain multi-step workflows end to end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404164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 Run with human-in-the-loop review checkpoints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0" y="960120"/>
            <a:ext cx="448056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9120" y="960120"/>
            <a:ext cx="64008" cy="379476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105156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Example: BA Requirements Analysis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26280" y="1463040"/>
            <a:ext cx="4206240" cy="310896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1508760"/>
            <a:ext cx="4114800" cy="2971800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"You are a senior BA.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have 5 stakeholder transcripts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./transcripts/.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9C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1: Spawn a sub-agent for each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transcript to extract requirements.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9C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2: Spawn a synthesis agent to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deduplicate &amp; consolidate.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9C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3: Map each requirement to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existing EPICs in Aha.io via MCP.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9C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4: Generate user stories for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 unmapped requirements.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to ./output/analysis.md"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PO/BA Agent Catalog: Your Reusable Agent Library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4572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731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AGENT DEFINITIONS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1148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64008" cy="1783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05840"/>
            <a:ext cx="41148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02412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Generation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426464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initiative-writer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epic-decomposer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story-writer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acceptance-criteria-writer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jira-task-generator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17720" y="1005840"/>
            <a:ext cx="41148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1005840"/>
            <a:ext cx="64008" cy="178308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1005840"/>
            <a:ext cx="4114800" cy="34747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27448" y="102412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Research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27448" y="1426464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requirements-extractor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conflict-detector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gap-analyzer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dependency-mapper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sprint-velocity-analyst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41148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71800"/>
            <a:ext cx="64008" cy="1783080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971800"/>
            <a:ext cx="4114800" cy="347472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99008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Review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" y="3392424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story-qa-reviewer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dev-perspective-reviewer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ac-qa-reviewer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business-value-scorer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17720" y="2971800"/>
            <a:ext cx="41148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2971800"/>
            <a:ext cx="64008" cy="178308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7720" y="2971800"/>
            <a:ext cx="4114800" cy="347472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27448" y="299008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27448" y="3392424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feature-advocate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risk-assessor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trade-off-analyst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stakeholder-communicator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74320" y="48006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is defined as a markdown file with YAML frontmatter specifying role, tools, context files, and output format. Build once, reuse forever.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CLI vs Claude Code: When to Use Which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4572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731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GUIDE FOR DAILY WORK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411480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Copilot CLI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CLI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85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document draft (PRD, brief)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7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Best choice — fast, inline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Overkill for single-shot tasks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1–3 user stories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7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Use Copilot suggest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Overkill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5+ stakeholder transcripts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simple — one at a 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7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Spawn parallel sub-agents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 planning (EPICs + stories)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orchestrate multi-step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7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Hybrid team + sub-agent pipeline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retrospective analysis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draft sections manually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7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4-agent team with Jira MCP pull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 analysis with trade-offs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generate options on request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7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Agent team for multi-perspective debate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Jira bulk ticket creation (50+ tasks)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— one at a 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7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Sub-agent batch via MCP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 stakeholder summary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7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Quick, high quality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if sourcing data from Jira/Aha! 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EPIC decomposition end-to-end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chain steps automatically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7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Sequential sub-agent pipeline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28090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Getting Started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31089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30-60-90 day plan for your organization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Roadmap: 30 / 60 / 90 Days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4572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731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74320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64008" cy="3977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960120"/>
            <a:ext cx="27432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1–30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16128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417320"/>
            <a:ext cx="2468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GitHub Copilot CLI &amp; Claude Code for all POs/BAs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2-hour onboarding workshop: CLI basics for non-developers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Pilot: Use Copilot CLI for user story drafting on live EPIC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Aha.io → Jira MCP integration credentials and permissions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5 core agent definitions (initiative-writer, story-writer, AC-writer)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72968" y="960120"/>
            <a:ext cx="274320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960120"/>
            <a:ext cx="64008" cy="397764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72968" y="960120"/>
            <a:ext cx="2743200" cy="38404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4408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31–60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64408" y="116128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10128" y="1417320"/>
            <a:ext cx="2468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sub-agent pipelines for EPIC decomposition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full quarterly planning sprint using hybrid pattern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agent catalog in shared team repo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BAs on requirements-extractor agent workflow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sprint retrospective using agent team + Jira MCP pull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71616" y="960120"/>
            <a:ext cx="274320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71616" y="960120"/>
            <a:ext cx="64008" cy="3977640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71616" y="960120"/>
            <a:ext cx="2743200" cy="384048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63056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61–90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63056" y="116128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Govern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08776" y="1417320"/>
            <a:ext cx="2468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POs using agent teams for feature impact analysis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policy: approval gates for agent-generated content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measurement: track time savings per workflow type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Project Managers and Scrum Masters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best practices across org — internal agent library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4320" y="48006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success factor: Treat agent definitions as shared team assets — version-controlled in git, peer-reviewed, and continuously improved.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Recommendations for Leadership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4572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731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DECISIONS REQUIRED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854964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87552"/>
            <a:ext cx="64008" cy="7040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106424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106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06070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CLI adoption for all PO/BA roles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371600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CLI and Claude Code are not optional. Frame this as a productivity baseline, not a nice-to-have. Track adoption monthly.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783080"/>
            <a:ext cx="854964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783080"/>
            <a:ext cx="64008" cy="70408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1901952"/>
            <a:ext cx="457200" cy="457200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185623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to sub-agents for volume; agent teams for strategy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2167128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rule is simple: high-volume, independent tasks → sub-agents. Strategic trade-offs, adversarial review → agent teams. Train teams on this distinction.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578608"/>
            <a:ext cx="854964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578608"/>
            <a:ext cx="64008" cy="704088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2697480"/>
            <a:ext cx="457200" cy="457200"/>
          </a:xfrm>
          <a:prstGeom prst="ellipse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265176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share a team agent catalog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2962656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defined in your org's git repo are organizational IP. Every reusable agent definition compounds productivity gains across all teams.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374136"/>
            <a:ext cx="854964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374136"/>
            <a:ext cx="64008" cy="704088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3493008"/>
            <a:ext cx="457200" cy="457200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344728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governance before scale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0120" y="3758184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approval gates for agent-generated EPICs and stories before they reach Jira. Human review is still required — agents draft, humans approve.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4169664"/>
            <a:ext cx="854964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4169664"/>
            <a:ext cx="64008" cy="7040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7472" y="4288536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60120" y="42428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MCP with Aha.io and Jira on day one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60120" y="4553712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MCP integrations, agents cannot read or write to your tools. This is the highest-leverage setup investment. Unblock it early.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109728" cy="49971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40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Is Here.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Owners and Business Analysts who use AI agent teams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sub-agents will outpace those who don't by 5–10× in output,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quality, and speed — starting this quarter.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6974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AD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 for volume, parallelism, and pipeline tasks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AD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teams for strategy, trade-offs, and co-evolution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AD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pattern for most real-world quarterly workflows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AD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CLI for daily quick tasks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AD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CLI for multi-agent orchestration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480060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Researched &amp; synthesized by 3 parallel AI research agents  •  GitHub Copilot CLI  • 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Teams &amp; Sub-Agents for Product Teams</dc:title>
  <dc:subject>PptxGenJS Presentation</dc:subject>
  <dc:creator>GitHub Copilot CLI Research</dc:creator>
  <cp:lastModifiedBy>GitHub Copilot CLI Research</cp:lastModifiedBy>
  <cp:revision>1</cp:revision>
  <dcterms:created xsi:type="dcterms:W3CDTF">2026-03-28T13:06:53Z</dcterms:created>
  <dcterms:modified xsi:type="dcterms:W3CDTF">2026-03-28T13:06:53Z</dcterms:modified>
</cp:coreProperties>
</file>